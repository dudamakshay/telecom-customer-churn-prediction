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Churn Rate by Contract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9EC-4543-9477-8CE4EB3D7054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EC-4543-9477-8CE4EB3D7054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EC-4543-9477-8CE4EB3D70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9EC-4543-9477-8CE4EB3D70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Churn Rate by Internet Service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A2-46BA-948D-5333D03A1D1F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A2-46BA-948D-5333D03A1D1F}"/>
              </c:ext>
            </c:extLst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A2-46BA-948D-5333D03A1D1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Fiber Optic</c:v>
                </c:pt>
                <c:pt idx="1">
                  <c:v>DSL</c:v>
                </c:pt>
                <c:pt idx="2">
                  <c:v>No Internet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41.9</c:v>
                </c:pt>
                <c:pt idx="1">
                  <c:v>19</c:v>
                </c:pt>
                <c:pt idx="2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9A2-46BA-948D-5333D03A1D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293B"/>
                </a:solidFill>
                <a:latin typeface="Arial"/>
              </a:rPr>
              <a:t>Top Feature Importances — Random Forest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2A2-41F4-BD1F-DA13266EE34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2A2-41F4-BD1F-DA13266EE34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2A2-41F4-BD1F-DA13266EE341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2A2-41F4-BD1F-DA13266EE341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2A2-41F4-BD1F-DA13266EE341}"/>
              </c:ext>
            </c:extLst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2A2-41F4-BD1F-DA13266EE3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OnlineSecurity</c:v>
                </c:pt>
                <c:pt idx="1">
                  <c:v>PaymentMethod</c:v>
                </c:pt>
                <c:pt idx="2">
                  <c:v>Contract</c:v>
                </c:pt>
                <c:pt idx="3">
                  <c:v>TotalCharges</c:v>
                </c:pt>
                <c:pt idx="4">
                  <c:v>Tenure</c:v>
                </c:pt>
                <c:pt idx="5">
                  <c:v>MonthlyCharges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</c:v>
                </c:pt>
                <c:pt idx="1">
                  <c:v>5.0999999999999996</c:v>
                </c:pt>
                <c:pt idx="2">
                  <c:v>8.1999999999999993</c:v>
                </c:pt>
                <c:pt idx="3">
                  <c:v>16.8</c:v>
                </c:pt>
                <c:pt idx="4">
                  <c:v>17.5</c:v>
                </c:pt>
                <c:pt idx="5">
                  <c:v>17.7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2A2-41F4-BD1F-DA13266EE3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293B"/>
                </a:solidFill>
                <a:latin typeface="Arial"/>
              </a:rPr>
              <a:t>Monthly Revenue Lost by Segment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Lost ($)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0F9-43C3-9625-3FD2047BE7C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0F9-43C3-9625-3FD2047BE7C8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0F9-43C3-9625-3FD2047BE7C8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0F9-43C3-9625-3FD2047BE7C8}"/>
              </c:ext>
            </c:extLst>
          </c:dPt>
          <c:dPt>
            <c:idx val="4"/>
            <c:invertIfNegative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0F9-43C3-9625-3FD2047BE7C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Month-to-Month</c:v>
                </c:pt>
                <c:pt idx="1">
                  <c:v>Fiber Optic</c:v>
                </c:pt>
                <c:pt idx="2">
                  <c:v>E-Check Pay</c:v>
                </c:pt>
                <c:pt idx="3">
                  <c:v>New Customers</c:v>
                </c:pt>
                <c:pt idx="4">
                  <c:v>TOTAL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69842</c:v>
                </c:pt>
                <c:pt idx="1">
                  <c:v>63932</c:v>
                </c:pt>
                <c:pt idx="2">
                  <c:v>57712</c:v>
                </c:pt>
                <c:pt idx="3">
                  <c:v>38445</c:v>
                </c:pt>
                <c:pt idx="4">
                  <c:v>139131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0F9-43C3-9625-3FD2047BE7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757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194560" cy="347472"/>
          </a:xfrm>
          <a:prstGeom prst="rect">
            <a:avLst/>
          </a:prstGeom>
          <a:solidFill>
            <a:srgbClr val="11224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TELECOMCORP · DATA SCIENCE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Churn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End-to-End Analytics + AI/ML Portfolio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1554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8840" y="3566160"/>
            <a:ext cx="1554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14884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SQL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3566160"/>
            <a:ext cx="1554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16294" y="3575303"/>
            <a:ext cx="1554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3212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2376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731519"/>
            <a:ext cx="1920240" cy="3657597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6446520" y="914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7,043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46520" y="1371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4748B"/>
                </a:solidFill>
              </a:rPr>
              <a:t>CUSTOMERS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675120" y="1645920"/>
            <a:ext cx="19202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46520" y="1755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46520" y="22128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4748B"/>
                </a:solidFill>
              </a:rPr>
              <a:t>CHURN RATE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75120" y="2487168"/>
            <a:ext cx="19202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46520" y="25968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$139K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46520" y="30540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4748B"/>
                </a:solidFill>
              </a:rPr>
              <a:t>MONTHLY LOSS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675120" y="3328416"/>
            <a:ext cx="19202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29167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81.76%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46520" y="38953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4748B"/>
                </a:solidFill>
              </a:rPr>
              <a:t>ML ACCURACY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PORTFOLIO PROJECT · DATA ANALYTICS &amp; MACHINE LEARNING ·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Why churn is the #1 revenue threat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30352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1,869 customers left the company — </a:t>
            </a:r>
            <a:r>
              <a:rPr lang="en-US" sz="1200" b="1" dirty="0">
                <a:solidFill>
                  <a:srgbClr val="DC2626"/>
                </a:solidFill>
              </a:rPr>
              <a:t>that's 26.5%</a:t>
            </a:r>
            <a:r>
              <a:rPr lang="en-US" sz="1200" dirty="0">
                <a:solidFill>
                  <a:srgbClr val="1E293B"/>
                </a:solidFill>
              </a:rPr>
              <a:t> of the total base. Every churned customer costs </a:t>
            </a:r>
            <a:r>
              <a:rPr lang="en-US" sz="1200" b="1" dirty="0">
                <a:solidFill>
                  <a:srgbClr val="1E293B"/>
                </a:solidFill>
              </a:rPr>
              <a:t>$139,131 in lost revenue every single month.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530352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🪣  The Leaky Bucket Analogy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You keep filling the bucket (new customers) but water leaks out (churn). Fixing the holes = retention strategy.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7432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72200" y="117957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$139K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1645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Monthly Revenue Lost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2167128"/>
            <a:ext cx="27432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72200" y="22037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$1.67M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2670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Annual Revenue at Risk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3191256"/>
            <a:ext cx="27432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72200" y="32278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72200" y="36941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Cost to Acquire vs Retain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TelecomCorp · Customer Churn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7,043 customers · 20 features · 0 missing values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920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7,043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Rows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20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6888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Columns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920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Missing Values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097280"/>
            <a:ext cx="1920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7512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Churn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057400"/>
            <a:ext cx="26517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2057400"/>
            <a:ext cx="26517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20665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Demographics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2542032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7512" y="2523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Gender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980944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7512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Senior Citizen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419856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67512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Partner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3858768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67512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Dependents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057400"/>
            <a:ext cx="26517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00400" y="2057400"/>
            <a:ext cx="265176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46120" y="20665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📡 Services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64992" y="2542032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502152" y="2523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Internet Service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64992" y="2980944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502152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Phone Service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64992" y="3419856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502152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Streaming TV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64992" y="3858768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502152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Online Security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2057400"/>
            <a:ext cx="26517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035040" y="2057400"/>
            <a:ext cx="2651760" cy="38404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080760" y="20665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Account &amp; Billing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99632" y="2542032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336792" y="2523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Tenure (months)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99632" y="2980944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336792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Contract Type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99632" y="3419856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336792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Monthly Charges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99632" y="3858768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36792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Payment Method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🎯  TARGET VARIABLE:  Churn = Yes (left) or No (stayed)  —  26.5% positive class  ·  Binary Classification Problem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What the data reveals — real numbers from the dataset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51560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663440" y="1051560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429000"/>
            <a:ext cx="2651760" cy="141732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50292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15× Higher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" y="3977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M-t-M churn vs 2-year contract customers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3429000"/>
            <a:ext cx="2651760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33756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🔥  53.3%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37560" y="3977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New customers (0–6 months) churn rate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3429000"/>
            <a:ext cx="2651760" cy="14173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617220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💳  45.3%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172200" y="3977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Electronic check payment method churn rate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TelecomCorp · Customer Churn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3 models trained · Logistic Regression achieved best ROC-AUC</a:t>
            </a:r>
          </a:p>
          <a:p>
            <a:r>
              <a:rPr lang="en-US" sz="1100" dirty="0">
                <a:solidFill>
                  <a:schemeClr val="bg1"/>
                </a:solidFill>
              </a:rPr>
              <a:t>Problem Type: Binary Classification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5943600" cy="1554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81.76%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Explainability + Speed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79.84%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Feature Importance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80.12%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Maximum Performance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365760" y="2834640"/>
          <a:ext cx="50292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6492240" y="969264"/>
            <a:ext cx="2532185" cy="1349267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5"/>
          <p:cNvSpPr/>
          <p:nvPr/>
        </p:nvSpPr>
        <p:spPr>
          <a:xfrm flipH="1">
            <a:off x="6506835" y="978408"/>
            <a:ext cx="76845" cy="134926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6756009" y="1172190"/>
            <a:ext cx="13252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756009" y="1434201"/>
            <a:ext cx="13041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Accuracy: 81.76%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742205" y="1699377"/>
            <a:ext cx="19263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Like a doctor estimating your risk from symptoms. Fast, clear, and explains its reasoning.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475359" y="2331720"/>
            <a:ext cx="2549066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Shape 10"/>
          <p:cNvSpPr/>
          <p:nvPr/>
        </p:nvSpPr>
        <p:spPr>
          <a:xfrm>
            <a:off x="6492240" y="2336819"/>
            <a:ext cx="914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6742205" y="2300771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744448" y="2542032"/>
            <a:ext cx="11788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Accuracy: 79.84%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756009" y="2813538"/>
            <a:ext cx="2100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Ask 100 doctors, take a majority vote. Finds complex patterns and ranks importance of features.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492239" y="3520440"/>
            <a:ext cx="2532185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Shape 15"/>
          <p:cNvSpPr/>
          <p:nvPr/>
        </p:nvSpPr>
        <p:spPr>
          <a:xfrm>
            <a:off x="6484701" y="3502152"/>
            <a:ext cx="914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756009" y="3520440"/>
            <a:ext cx="137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Gradient Boosting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744448" y="3788078"/>
            <a:ext cx="14391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Accuracy: 80.12%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701343" y="4114800"/>
            <a:ext cx="19178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Learn from mistakes. Each tree corrects the previous one. Best raw performance.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TelecomCorp · Customer Churn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Translating churn into dollars — the business case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9728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097280"/>
            <a:ext cx="310896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715000" y="11338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$139,131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715000" y="1591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Monthly Revenue Lost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2011680"/>
            <a:ext cx="310896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715000" y="20482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$1,669,572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715000" y="25054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Annual Revenue at Risk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0" y="2926080"/>
            <a:ext cx="310896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715000" y="29626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$2,862,927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715000" y="34198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Lifetime Revenue Lost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69280" y="3840480"/>
            <a:ext cx="310896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715000" y="38770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$50K+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715000" y="4334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Saveable Per Month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3977640"/>
            <a:ext cx="841248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02920" y="40050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</a:rPr>
              <a:t>💡  ACTION:  Target top 500 high-risk customers monthly with retention offers → prevent $50,000+ revenue loss per month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TelecomCorp · Customer Churn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Industry-standard CRISP-DM framework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51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6517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721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Data Cleaning · EDA · ML Modeling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5176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4721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Aggregations · Window Functions · Segmentation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274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4721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LR · RF · Gradient Boosting · ROC-AUC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148840"/>
            <a:ext cx="2651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2148840"/>
            <a:ext cx="26517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2167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4780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Interactive Dashboard · DAX Measures · KPIs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148840"/>
            <a:ext cx="2651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3291840" y="2167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24780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475569"/>
                </a:solidFill>
              </a:rPr>
              <a:t>   </a:t>
            </a:r>
          </a:p>
          <a:p>
            <a:r>
              <a:rPr lang="en-US" sz="950" dirty="0">
                <a:solidFill>
                  <a:srgbClr val="475569"/>
                </a:solidFill>
              </a:rPr>
              <a:t>Version Control · Project Structure · README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2167128"/>
            <a:ext cx="26517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91840" y="2181899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CRISP-DM WORKFLOW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611880"/>
            <a:ext cx="129844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" y="3611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Business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Understanding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64208" y="38404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783080" y="3611880"/>
            <a:ext cx="129844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783080" y="3611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Understanding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81528" y="38404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0" y="3611880"/>
            <a:ext cx="129844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00400" y="3611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Preparation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98848" y="38404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17720" y="3611880"/>
            <a:ext cx="129844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17720" y="3611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16168" y="38404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035040" y="3611880"/>
            <a:ext cx="129844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035040" y="3611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Evaluation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33488" y="38404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452360" y="3611880"/>
            <a:ext cx="129844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452360" y="3611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Presentation &amp; Business Reporting</a:t>
            </a:r>
          </a:p>
        </p:txBody>
      </p:sp>
      <p:sp>
        <p:nvSpPr>
          <p:cNvPr id="48" name="Shape 46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65760" y="4663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TelecomCorp · Customer Churn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Data-driven actions to reduce churn and save revenue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6052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02920" cy="10241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Convert Month-to-Month → Annual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💰 Save ~$50K/month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Offer 15–20% discount to M-t-M customers in months 3–6 to switch to annual plan. 42.7% churn drops to 11.3%.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60520" cy="102412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502920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0" y="109728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90-Day Onboarding Program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💰 Cut new customer churn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New customers churn at 53.3% in first 6 months. Launch welcome calls, usage guides, and check-ins to build loyalty.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4160520" cy="10241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502920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228600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Bundle Security + Tech Support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670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💰 Increase stickiness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2898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Customers without add-on services churn significantly more. Include OnlineSecurity in base plans during signup.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160520" cy="1024128"/>
          </a:xfrm>
          <a:prstGeom prst="rect">
            <a:avLst/>
          </a:prstGeom>
          <a:solidFill>
            <a:srgbClr val="FAF5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502920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28600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Fiber Optic Service Audit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670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💰 Fix quality perception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2898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Fiber users pay $91.50/month avg but churn at 41.9%. Survey NPS. Fix service issues before customers leave.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474720"/>
            <a:ext cx="8412480" cy="10241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65760" y="3474720"/>
            <a:ext cx="50292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" y="347472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60120" y="3547872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Auto-Pay Incentive Program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3858768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💰 Reduce e-check churn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" y="4087368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Electronic check users churn at 45.3%. Offer $5/month discount for switching to automatic bank transfer payment.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6451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65760" y="4709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TelecomCorp · Customer Churn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Executive-level interactive analytics · DAX measures included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303520" cy="370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3035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📊  Telecom Churn Analytics Dashboard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70432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D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527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7,043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8653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94A3B8"/>
                </a:solidFill>
              </a:rPr>
              <a:t>Customers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764792" y="1508760"/>
            <a:ext cx="1170432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D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764792" y="1527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1,869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64792" y="18653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94A3B8"/>
                </a:solidFill>
              </a:rPr>
              <a:t>Churned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026664" y="1508760"/>
            <a:ext cx="1170432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D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026664" y="1527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26664" y="18653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94A3B8"/>
                </a:solidFill>
              </a:rPr>
              <a:t>Churn Rate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88536" y="1508760"/>
            <a:ext cx="1170432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D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88536" y="1527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$139K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88536" y="18653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94A3B8"/>
                </a:solidFill>
              </a:rPr>
              <a:t>Rev Lost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2267712"/>
            <a:ext cx="246888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2304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Churn by Contract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" y="2606040"/>
            <a:ext cx="164592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94360" y="2926080"/>
            <a:ext cx="73152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4360" y="3246120"/>
            <a:ext cx="16459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286000" y="26334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</a:rPr>
              <a:t>42.7%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71600" y="29535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</a:rPr>
              <a:t>11.3%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95528" y="32735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</a:rPr>
              <a:t>2.8%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08960" y="2267712"/>
            <a:ext cx="2423160" cy="13716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00400" y="23042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Churn by Internet Service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" y="3730752"/>
            <a:ext cx="502920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436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</a:rPr>
              <a:t>Tenure Trend: New Customers (0-6mo) → 53.3% Churn   |   Loyal (49-72mo) → 9.5% Churn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1051560"/>
            <a:ext cx="2926080" cy="3703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94360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KEY DAX MEASURES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1481328"/>
            <a:ext cx="269748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016752" y="15087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 Rate %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DIVIDE([Churned], [Total])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0" y="2258568"/>
            <a:ext cx="269748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016752" y="22860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Rev Lost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SUM(MonthlyCharges) WHERE Churn=Yes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0" y="3035808"/>
            <a:ext cx="269748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016752" y="30632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Tenure Churned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AVERAGE(tenure) WHERE Churn=Yes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0" y="3813048"/>
            <a:ext cx="269748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016752" y="38404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 Rate %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 [Churn Rate %]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Summary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943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901952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Built end-to-end churn prediction with 81.76% accuracy &amp; ROC-AUC 0.85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5943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Identified $139K/month revenue loss across 1,869 churned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08376"/>
            <a:ext cx="5943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303580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Found month-to-month contracts churn 15× more than two-year contracts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75304"/>
            <a:ext cx="5943600" cy="448056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3602736"/>
            <a:ext cx="5669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</a:rPr>
              <a:t>✅  </a:t>
            </a:r>
            <a:r>
              <a:rPr lang="en-US" sz="1100" dirty="0">
                <a:solidFill>
                  <a:schemeClr val="bg1"/>
                </a:solidFill>
              </a:rPr>
              <a:t>Delivered Power BI dashboard, SQL analytics library, Jupyter Notebook workflow, and Python  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     </a:t>
            </a:r>
            <a:r>
              <a:rPr lang="en-IN" sz="1100" dirty="0">
                <a:solidFill>
                  <a:schemeClr val="bg1"/>
                </a:solidFill>
              </a:rPr>
              <a:t>ML pipeline</a:t>
            </a:r>
            <a:r>
              <a:rPr lang="en-US" sz="1100" dirty="0">
                <a:solidFill>
                  <a:schemeClr val="bg1"/>
                </a:solidFill>
              </a:rPr>
              <a:t>                  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" y="4142232"/>
            <a:ext cx="5943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416966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Targeting top 500 high-risk customers monthly can save $50,000+ in revenue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011680"/>
            <a:ext cx="11887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578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4748B"/>
                </a:solidFill>
              </a:rPr>
              <a:t>Tool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863840" y="2011680"/>
            <a:ext cx="11887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86384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0" y="2578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4748B"/>
                </a:solidFill>
              </a:rPr>
              <a:t>Analysis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0" y="3108960"/>
            <a:ext cx="11887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8368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675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4748B"/>
                </a:solidFill>
              </a:rPr>
              <a:t>3 Built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863840" y="3108960"/>
            <a:ext cx="11887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81.76%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63840" y="3675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4748B"/>
                </a:solidFill>
              </a:rPr>
              <a:t>Accuracy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</a:rPr>
              <a:t>Thank You  · 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912</Words>
  <Application>Microsoft Office PowerPoint</Application>
  <PresentationFormat>On-screen Show (16:9)</PresentationFormat>
  <Paragraphs>223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Prediction</dc:title>
  <dc:subject>PptxGenJS Presentation</dc:subject>
  <dc:creator>Data Science Team</dc:creator>
  <cp:lastModifiedBy>venkat cw</cp:lastModifiedBy>
  <cp:revision>3</cp:revision>
  <dcterms:created xsi:type="dcterms:W3CDTF">2026-05-04T03:58:51Z</dcterms:created>
  <dcterms:modified xsi:type="dcterms:W3CDTF">2026-05-22T10:48:48Z</dcterms:modified>
</cp:coreProperties>
</file>
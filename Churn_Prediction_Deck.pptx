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Churn Rate by Contract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Month-to-Month</c:v>
                  </c:pt>
                  <c:pt idx="1">
                    <c:v>One Year</c:v>
                  </c:pt>
                  <c:pt idx="2">
                    <c:v>Two Year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42.7</c:v>
                </c:pt>
                <c:pt idx="1">
                  <c:v>11.3</c:v>
                </c:pt>
                <c:pt idx="2">
                  <c:v>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93B"/>
                </a:solidFill>
                <a:latin typeface="Arial"/>
              </a:rPr>
              <a:t>Churn Rate by Internet Service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 Rate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Fiber Optic</c:v>
                  </c:pt>
                  <c:pt idx="1">
                    <c:v>DSL</c:v>
                  </c:pt>
                  <c:pt idx="2">
                    <c:v>No Internet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41.9</c:v>
                </c:pt>
                <c:pt idx="1">
                  <c:v>19</c:v>
                </c:pt>
                <c:pt idx="2">
                  <c:v>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Top Feature Importances — Random Forest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OnlineSecurity</c:v>
                  </c:pt>
                  <c:pt idx="1">
                    <c:v>PaymentMethod</c:v>
                  </c:pt>
                  <c:pt idx="2">
                    <c:v>Contract</c:v>
                  </c:pt>
                  <c:pt idx="3">
                    <c:v>TotalCharges</c:v>
                  </c:pt>
                  <c:pt idx="4">
                    <c:v>Tenure</c:v>
                  </c:pt>
                  <c:pt idx="5">
                    <c:v>MonthlyCharges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4.8</c:v>
                </c:pt>
                <c:pt idx="1">
                  <c:v>5.1</c:v>
                </c:pt>
                <c:pt idx="2">
                  <c:v>8.2</c:v>
                </c:pt>
                <c:pt idx="3">
                  <c:v>16.8</c:v>
                </c:pt>
                <c:pt idx="4">
                  <c:v>17.5</c:v>
                </c:pt>
                <c:pt idx="5">
                  <c:v>17.7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000" b="0" i="0" u="none" strike="noStrike">
                <a:solidFill>
                  <a:srgbClr val="1E293B"/>
                </a:solidFill>
                <a:latin typeface="Arial"/>
              </a:rPr>
              <a:t>Monthly Revenue Lost by Segment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Revenue Lost ($)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770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E3A5F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Month-to-Month</c:v>
                  </c:pt>
                  <c:pt idx="1">
                    <c:v>Fiber Optic</c:v>
                  </c:pt>
                  <c:pt idx="2">
                    <c:v>E-Check Pay</c:v>
                  </c:pt>
                  <c:pt idx="3">
                    <c:v>New Customers</c:v>
                  </c:pt>
                  <c:pt idx="4">
                    <c:v>TOTAL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69842</c:v>
                </c:pt>
                <c:pt idx="1">
                  <c:v>63932</c:v>
                </c:pt>
                <c:pt idx="2">
                  <c:v>57712</c:v>
                </c:pt>
                <c:pt idx="3">
                  <c:v>38445</c:v>
                </c:pt>
                <c:pt idx="4">
                  <c:v>139131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11480"/>
            <a:ext cx="2194560" cy="347472"/>
          </a:xfrm>
          <a:prstGeom prst="rect">
            <a:avLst/>
          </a:prstGeom>
          <a:solidFill>
            <a:srgbClr val="11224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D9488"/>
                </a:solidFill>
              </a:rPr>
              <a:t>TELECOMCORP · DATA SCIENCE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Churn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Prediction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</a:rPr>
              <a:t>End-to-End Analytics + AI/ML Portfolio Project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14884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SQL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4048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Machine Learning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53212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Power BI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223760" y="3566160"/>
            <a:ext cx="155448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356616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Streamlit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0" y="731520"/>
            <a:ext cx="2468880" cy="36576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914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446520" y="137160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CUSTOMERS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675120" y="1645920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175564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46520" y="2212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CHURN RATE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675120" y="2487168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46520" y="259689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446520" y="305409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MONTHLY LOSS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675120" y="3328416"/>
            <a:ext cx="1920240" cy="0"/>
          </a:xfrm>
          <a:prstGeom prst="line">
            <a:avLst/>
          </a:prstGeom>
          <a:noFill/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343814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81.76%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446520" y="38953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64748B"/>
                </a:solidFill>
              </a:rPr>
              <a:t>ML ACCURACY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34155"/>
                </a:solidFill>
              </a:rPr>
              <a:t>CONFIDENTIAL  ·  PORTFOLIO PROJECT  ·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PROBLEM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Why churn is the #1 revenue threat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5303520" cy="109728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1,869 customers left the company — </a:t>
            </a:r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that's 26.5%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</a:rPr>
              <a:t> of the total base. Every churned customer costs </a:t>
            </a:r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$139,131 in lost revenue every single month.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377440"/>
            <a:ext cx="5303520" cy="82296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" y="2423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</a:rPr>
              <a:t>🪣  The Leaky Bucket Analogy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743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You keep filling the bucket (new customers) but water leaks out (churn). Fixing the holes = retention strategy.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72200" y="1179576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172200" y="1645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Monthly Revenue Lost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2167128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72200" y="2203704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$1.67M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72200" y="2670048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Annual Revenue at Risk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3191256"/>
            <a:ext cx="2743200" cy="86868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72200" y="3227832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172200" y="3694176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Cost to Acquire vs Retain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475488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7,043 customers · 20 features · 0 missing values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6576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Rows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Columns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7200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Missing Values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675120" y="1097280"/>
            <a:ext cx="1920240" cy="777240"/>
          </a:xfrm>
          <a:prstGeom prst="rect">
            <a:avLst/>
          </a:prstGeom>
          <a:solidFill>
            <a:srgbClr val="0A162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675120" y="1115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675120" y="157276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Churn Rate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057400"/>
            <a:ext cx="265176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👤 Demographics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Gender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035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Senior Citizen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3035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Partner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3035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Dependents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057400"/>
            <a:ext cx="2651760" cy="384048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4612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📡 Services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6499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0215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Internet Service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36499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0215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Phone Service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36499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0215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Streaming TV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36499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0215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Online Security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2057400"/>
            <a:ext cx="2651760" cy="24688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35040" y="2057400"/>
            <a:ext cx="2651760" cy="38404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80760" y="2066544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💰 Account &amp; Billing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2542032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252374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Tenure (months)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199632" y="2980944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36792" y="29626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Contract Type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3419856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34015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Monthly Charges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199632" y="3858768"/>
            <a:ext cx="7315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36792" y="3840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Payment Method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</a:rPr>
              <a:t>🎯  TARGET VARIABLE:  Churn = Yes (left) or No (stayed)  —  26.5% positive class  ·  Binary Classification Problem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the data reveals — real numbers from the dataset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515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7" name="Chart 1" descr=""/>
          <p:cNvGraphicFramePr/>
          <p:nvPr/>
        </p:nvGraphicFramePr>
        <p:xfrm>
          <a:off x="4663440" y="1051560"/>
          <a:ext cx="41148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365760" y="3429000"/>
            <a:ext cx="2651760" cy="1417320"/>
          </a:xfrm>
          <a:prstGeom prst="rect">
            <a:avLst/>
          </a:prstGeom>
          <a:solidFill>
            <a:srgbClr val="FEE2E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0292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⚡  15× Higher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0292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M-t-M churn vs 2-year contract customers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3429000"/>
            <a:ext cx="2651760" cy="1417320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333756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🔥  53.3%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33756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New customers (0–6 months) churn rate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035040" y="3429000"/>
            <a:ext cx="2651760" cy="141732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6172200" y="3520440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💳  45.3%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172200" y="39776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Electronic check payment method churn rate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RESULTS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3 models trained · Logistic Regression achieved best ROC-AUC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5029200" cy="1554480"/>
        </p:xfrm>
        <a:graphic>
          <a:graphicData uri="http://schemas.openxmlformats.org/drawingml/2006/table">
            <a:tbl>
              <a:tblPr/>
              <a:tblGrid>
                <a:gridCol w="2011680"/>
                <a:gridCol w="1005840"/>
                <a:gridCol w="1005840"/>
                <a:gridCol w="1920240"/>
              </a:tblGrid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ROC-AUC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Best For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628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Logistic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81.76%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Explainability + Speed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79.84%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Feature Importance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80.12%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Maximum Performance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365760" y="2834640"/>
          <a:ext cx="5029200" cy="2011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5577840" y="1097280"/>
            <a:ext cx="32918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5577840" y="1097280"/>
            <a:ext cx="9144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742432" y="115214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Logistic Regression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742432" y="1463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</a:rPr>
              <a:t>Accuracy: 81.76%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742432" y="1719072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Like a doctor estimating your risk from symptoms. Fast, clear, and explains its reasoning.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577840" y="2395728"/>
            <a:ext cx="32918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577840" y="2395728"/>
            <a:ext cx="91440" cy="11887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742432" y="24505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742432" y="27614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Accuracy: 79.84%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5742432" y="30175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Ask 100 doctors, take a majority vote. Finds complex patterns and ranks importance of features.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577840" y="3694176"/>
            <a:ext cx="3291840" cy="11887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77840" y="3694176"/>
            <a:ext cx="91440" cy="1188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742432" y="37490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Gradient Boosting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742432" y="40599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Accuracy: 80.12%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5742432" y="431596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Learn from mistakes. Each tree corrects the previous one. Best raw performance.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365760" y="489204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IMPACT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Translating churn into dollars — the business case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097280"/>
          <a:ext cx="50292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669280" y="10972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15000" y="11338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$139,131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15000" y="15910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Monthly Revenue Lost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669280" y="20116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20482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$1,669,572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5715000" y="25054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Annual Revenue at Risk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15000" y="29626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$2,862,927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715000" y="34198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Lifetime Revenue Lost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669280" y="3840480"/>
            <a:ext cx="3108960" cy="804672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15000" y="387705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$50K+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5715000" y="4334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</a:rPr>
              <a:t>Saveable Per Month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4005072"/>
            <a:ext cx="8138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F46"/>
                </a:solidFill>
              </a:rPr>
              <a:t>💡  ACTION:  Target top 500 high-risk customers monthly with retention offers → prevent $50,000+ revenue loss per month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65760" y="4773168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760" y="484632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&amp; METHODOLOGY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Industry-standard CRISP-DM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43000"/>
            <a:ext cx="26517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Python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Data Cleaning · EDA · ML Modeling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143000"/>
            <a:ext cx="26517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SQL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Aggregations · Window Functions · Segmentation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35040" y="114300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143000"/>
            <a:ext cx="2651760" cy="27432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1161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scikit-learn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126480" y="147218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LR · RF · Gradient Boosting · ROC-AUC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14884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148840"/>
            <a:ext cx="26517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Power BI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Interactive Dashboard · DAX Measures · KPIs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0" y="214884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0" y="2148840"/>
            <a:ext cx="2651760" cy="274320"/>
          </a:xfrm>
          <a:prstGeom prst="rect">
            <a:avLst/>
          </a:prstGeom>
          <a:solidFill>
            <a:srgbClr val="065F46"/>
          </a:solidFill>
          <a:ln w="12700">
            <a:solidFill>
              <a:srgbClr val="065F4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9184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Streamlit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Live Churn Risk Prediction App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35040" y="2148840"/>
            <a:ext cx="2651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35040" y="2148840"/>
            <a:ext cx="26517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216712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GitHub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26480" y="2478024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Version Control · Project Structure · README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</a:rPr>
              <a:t>CRISP-DM WORKFLOW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Business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Understanding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66420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78308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78308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Understanding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08152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200400" y="3611880"/>
            <a:ext cx="1298448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320040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Data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Preparation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49884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17720" y="3611880"/>
            <a:ext cx="129844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61772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Modeling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1616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6035040" y="3611880"/>
            <a:ext cx="1298448" cy="7498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03504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Evaluation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333488" y="3840480"/>
            <a:ext cx="11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7452360" y="3611880"/>
            <a:ext cx="1298448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452360" y="3611880"/>
            <a:ext cx="129844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Deployment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65760" y="4572000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6634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Data-driven actions to reduce churn and save revenue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4160520" cy="1024128"/>
          </a:xfrm>
          <a:prstGeom prst="rect">
            <a:avLst/>
          </a:prstGeom>
          <a:solidFill>
            <a:srgbClr val="FEF2F2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97280"/>
            <a:ext cx="502920" cy="10241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6012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Convert Month-to-Month → Annual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💰 Save ~$50K/month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Offer 15–20% discount to M-t-M customers in months 3–6 to switch to annual plan. 42.7% churn drops to 11.3%.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4160520" cy="1024128"/>
          </a:xfrm>
          <a:prstGeom prst="rect">
            <a:avLst/>
          </a:prstGeom>
          <a:solidFill>
            <a:srgbClr val="FFFBEB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97280"/>
            <a:ext cx="502920" cy="10241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09728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11704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90-Day Onboarding Program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48132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💰 Cut new customer churn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49240" y="170992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New customers churn at 53.3% in first 6 months. Launch welcome calls, usage guides, and check-ins to build loyalty.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2286000"/>
            <a:ext cx="4160520" cy="1024128"/>
          </a:xfrm>
          <a:prstGeom prst="rect">
            <a:avLst/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2286000"/>
            <a:ext cx="502920" cy="10241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8600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6012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Bundle Security + Tech Support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6012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</a:rPr>
              <a:t>💰 Increase stickiness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Customers without add-on services churn significantly more. Include OnlineSecurity in base plans during signup.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54880" y="2286000"/>
            <a:ext cx="4160520" cy="1024128"/>
          </a:xfrm>
          <a:prstGeom prst="rect">
            <a:avLst/>
          </a:prstGeom>
          <a:solidFill>
            <a:srgbClr val="FAF5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2286000"/>
            <a:ext cx="502920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228600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349240" y="235915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Fiber Optic Service Audit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267004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💰 Fix quality perception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4924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Fiber users pay $91.50/month avg but churn at 41.9%. Survey NPS. Fix service issues before customers leave.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65760" y="3474720"/>
            <a:ext cx="8412480" cy="1024128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3474720"/>
            <a:ext cx="502920" cy="102412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74720"/>
            <a:ext cx="5029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960120" y="3547872"/>
            <a:ext cx="7726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</a:rPr>
              <a:t>Auto-Pay Incentive Program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960120" y="3858768"/>
            <a:ext cx="7726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💰 Reduce e-check churn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4087368"/>
            <a:ext cx="7726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Electronic check users churn at 45.3%. Offer $5/month discount for switching to automatic bank transfer payment.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65760" y="4645152"/>
            <a:ext cx="84124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70916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TelecomCorp · Customer Churn Prediction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005840" y="7315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POWER BI DASHBOARD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005840" y="5029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Executive-level interactive analytics · DAX measures included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5303520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5303520" cy="365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78992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📊  Telecom Churn Analytics Dashboard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7,043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4A3B8"/>
                </a:solidFill>
              </a:rPr>
              <a:t>Customers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1764792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64792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1,869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764792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4A3B8"/>
                </a:solidFill>
              </a:rPr>
              <a:t>Churned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3026664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26.5%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026664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4A3B8"/>
                </a:solidFill>
              </a:rPr>
              <a:t>Churn Rate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288536" y="1508760"/>
            <a:ext cx="1170432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2D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88536" y="1527048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$139K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288536" y="186537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spc="100" kern="0" dirty="0">
                <a:solidFill>
                  <a:srgbClr val="94A3B8"/>
                </a:solidFill>
              </a:rPr>
              <a:t>Rev Lost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502920" y="2267712"/>
            <a:ext cx="2468880" cy="137160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042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Churn by Contract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4360" y="2606040"/>
            <a:ext cx="16459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2926080"/>
            <a:ext cx="7315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3246120"/>
            <a:ext cx="164592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42.7%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71600" y="295351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11.3%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95528" y="32735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9488"/>
                </a:solidFill>
              </a:rPr>
              <a:t>2.8%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108960" y="2267712"/>
            <a:ext cx="2423160" cy="1371600"/>
          </a:xfrm>
          <a:prstGeom prst="rect">
            <a:avLst/>
          </a:prstGeom>
          <a:solidFill>
            <a:srgbClr val="FFF7ED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00400" y="230428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Churn by Internet Service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02920" y="3730752"/>
            <a:ext cx="5029200" cy="685800"/>
          </a:xfrm>
          <a:prstGeom prst="rect">
            <a:avLst/>
          </a:prstGeom>
          <a:solidFill>
            <a:srgbClr val="F0FD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8404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5F46"/>
                </a:solidFill>
              </a:rPr>
              <a:t>Tenure Trend: New Customers (0-6mo) → 53.3% Churn   |   Loyal (49-72mo) → 9.5% Churn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852160" y="1051560"/>
            <a:ext cx="2926080" cy="3703320"/>
          </a:xfrm>
          <a:prstGeom prst="rect">
            <a:avLst/>
          </a:prstGeom>
          <a:solidFill>
            <a:srgbClr val="0A1628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43600" y="1115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D9488"/>
                </a:solidFill>
              </a:rPr>
              <a:t>KEY DAX MEASURES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43600" y="148132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16752" y="150876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Churn Rate %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DIVIDE([Churned], [Total])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0" y="225856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16752" y="228600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 Rev Lost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SUM(MonthlyCharges) WHERE Churn=Yes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943600" y="303580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16752" y="306324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 Tenure Churned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AVERAGE(tenure) WHERE Churn=Yes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0" y="3813048"/>
            <a:ext cx="2697480" cy="685800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016752" y="3840480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Retention Rate %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1 - [Churn Rate %]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D9488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Summary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901952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Built end-to-end churn prediction with 81.76% accuracy &amp; ROC-AUC 0.85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441448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46888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Identified $139K/month revenue loss across 1,869 churned customers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08376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0358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Found month-to-month contracts churn 15× more than two-year contracts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575304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60273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Delivered Streamlit app, Power BI dashboard, SQL library &amp; Python ML pipeline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42232"/>
            <a:ext cx="5943600" cy="475488"/>
          </a:xfrm>
          <a:prstGeom prst="rect">
            <a:avLst/>
          </a:prstGeom>
          <a:solidFill>
            <a:srgbClr val="0D1F3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6966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Targeting top 500 high-risk customers monthly can save $50,000+ in revenue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01168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Tool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863840" y="201168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0" y="21031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0" y="25786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Analysis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583680" y="310896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ML Models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3 Built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863840" y="3108960"/>
            <a:ext cx="1188720" cy="9144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63840" y="32004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81.76%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863840" y="36758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64748B"/>
                </a:solidFill>
              </a:rPr>
              <a:t>Accuracy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34155"/>
                </a:solidFill>
              </a:rPr>
              <a:t>Thank You  ·  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Telecom Customer Churn Prediction</dc:title>
  <dc:subject>PptxGenJS Presentation</dc:subject>
  <dc:creator>Data Science Team</dc:creator>
  <cp:lastModifiedBy>Data Science Team</cp:lastModifiedBy>
  <cp:revision>1</cp:revision>
  <dcterms:created xsi:type="dcterms:W3CDTF">2026-05-04T03:58:51Z</dcterms:created>
  <dcterms:modified xsi:type="dcterms:W3CDTF">2026-05-04T03:58:51Z</dcterms:modified>
</cp:coreProperties>
</file>